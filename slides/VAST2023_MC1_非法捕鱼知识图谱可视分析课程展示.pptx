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008144d15c4ac0" /><Relationship Type="http://schemas.openxmlformats.org/officeDocument/2006/relationships/extended-properties" Target="/docProps/app.xml" Id="R6129c98dcc1d48f6" /><Relationship Type="http://schemas.openxmlformats.org/officeDocument/2006/relationships/officeDocument" Target="/ppt/presentation.xml" Id="R7c32874955d3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74eee486d4492"/>
  </p:sldMasterIdLst>
  <p:notesMasterIdLst>
    <p:notesMasterId xmlns:r="http://schemas.openxmlformats.org/officeDocument/2006/relationships" r:id="Rc8c663408e074160"/>
  </p:notesMasterIdLst>
  <p:sldIdLst>
    <p:sldId xmlns:r="http://schemas.openxmlformats.org/officeDocument/2006/relationships" id="256" r:id="R49ffdfd3e30d4bf2"/>
    <p:sldId xmlns:r="http://schemas.openxmlformats.org/officeDocument/2006/relationships" id="257" r:id="R2eb98eafc4c148dc"/>
    <p:sldId xmlns:r="http://schemas.openxmlformats.org/officeDocument/2006/relationships" id="258" r:id="R2575ea5a567447b9"/>
    <p:sldId xmlns:r="http://schemas.openxmlformats.org/officeDocument/2006/relationships" id="259" r:id="Rf9379ead907b4c47"/>
    <p:sldId xmlns:r="http://schemas.openxmlformats.org/officeDocument/2006/relationships" id="260" r:id="R60ce888e537d4bb0"/>
    <p:sldId xmlns:r="http://schemas.openxmlformats.org/officeDocument/2006/relationships" id="261" r:id="R61d8799debde4265"/>
    <p:sldId xmlns:r="http://schemas.openxmlformats.org/officeDocument/2006/relationships" id="262" r:id="R65ccecaa577e46ad"/>
    <p:sldId xmlns:r="http://schemas.openxmlformats.org/officeDocument/2006/relationships" id="263" r:id="Rd219694586234591"/>
    <p:sldId xmlns:r="http://schemas.openxmlformats.org/officeDocument/2006/relationships" id="264" r:id="R0f300849202a46fb"/>
    <p:sldId xmlns:r="http://schemas.openxmlformats.org/officeDocument/2006/relationships" id="265" r:id="R0af4bbce3d8547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551d9035f4c12" /><Relationship Type="http://schemas.openxmlformats.org/officeDocument/2006/relationships/slideMaster" Target="/ppt/slideMasters/slideMaster1.xml" Id="R90374eee486d4492" /><Relationship Type="http://schemas.openxmlformats.org/officeDocument/2006/relationships/notesMaster" Target="/ppt/notesMasters/notesMaster1.xml" Id="Rc8c663408e074160" /><Relationship Type="http://schemas.openxmlformats.org/officeDocument/2006/relationships/presProps" Target="/ppt/presProps.xml" Id="Red53b6e0752f456e" /><Relationship Type="http://schemas.openxmlformats.org/officeDocument/2006/relationships/tableStyles" Target="/ppt/tableStyles.xml" Id="R6bc1676a15e04a9d" /><Relationship Type="http://schemas.openxmlformats.org/officeDocument/2006/relationships/slide" Target="/ppt/slides/slide1.xml" Id="R49ffdfd3e30d4bf2" /><Relationship Type="http://schemas.openxmlformats.org/officeDocument/2006/relationships/slide" Target="/ppt/slides/slide2.xml" Id="R2eb98eafc4c148dc" /><Relationship Type="http://schemas.openxmlformats.org/officeDocument/2006/relationships/slide" Target="/ppt/slides/slide3.xml" Id="R2575ea5a567447b9" /><Relationship Type="http://schemas.openxmlformats.org/officeDocument/2006/relationships/slide" Target="/ppt/slides/slide4.xml" Id="Rf9379ead907b4c47" /><Relationship Type="http://schemas.openxmlformats.org/officeDocument/2006/relationships/slide" Target="/ppt/slides/slide5.xml" Id="R60ce888e537d4bb0" /><Relationship Type="http://schemas.openxmlformats.org/officeDocument/2006/relationships/slide" Target="/ppt/slides/slide6.xml" Id="R61d8799debde4265" /><Relationship Type="http://schemas.openxmlformats.org/officeDocument/2006/relationships/slide" Target="/ppt/slides/slide7.xml" Id="R65ccecaa577e46ad" /><Relationship Type="http://schemas.openxmlformats.org/officeDocument/2006/relationships/slide" Target="/ppt/slides/slide8.xml" Id="Rd219694586234591" /><Relationship Type="http://schemas.openxmlformats.org/officeDocument/2006/relationships/slide" Target="/ppt/slides/slide9.xml" Id="R0f300849202a46fb" /><Relationship Type="http://schemas.openxmlformats.org/officeDocument/2006/relationships/slide" Target="/ppt/slides/slide10.xml" Id="R0af4bbce3d8547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b9f11adcc40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5182d4a6944ba5" /><Relationship Type="http://schemas.openxmlformats.org/officeDocument/2006/relationships/notesMaster" Target="/ppt/notesMasters/notesMaster1.xml" Id="Rafc20aa7ed9e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1f7c5019345bf" /><Relationship Type="http://schemas.openxmlformats.org/officeDocument/2006/relationships/notesMaster" Target="/ppt/notesMasters/notesMaster1.xml" Id="R4d3537e5d8a14c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c6eb12a8564629" /><Relationship Type="http://schemas.openxmlformats.org/officeDocument/2006/relationships/notesMaster" Target="/ppt/notesMasters/notesMaster1.xml" Id="Rbd6b2acd29a1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7052e0095c403e" /><Relationship Type="http://schemas.openxmlformats.org/officeDocument/2006/relationships/notesMaster" Target="/ppt/notesMasters/notesMaster1.xml" Id="Rdde4bb929ca34f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ef84ec524348bf" /><Relationship Type="http://schemas.openxmlformats.org/officeDocument/2006/relationships/notesMaster" Target="/ppt/notesMasters/notesMaster1.xml" Id="Rf0a1218b71a0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23307be634b2b" /><Relationship Type="http://schemas.openxmlformats.org/officeDocument/2006/relationships/notesMaster" Target="/ppt/notesMasters/notesMaster1.xml" Id="R4e64e40f38d445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8f9fd4653040c2" /><Relationship Type="http://schemas.openxmlformats.org/officeDocument/2006/relationships/notesMaster" Target="/ppt/notesMasters/notesMaster1.xml" Id="Re9c129b0eb4c4c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99d3e8547a4510" /><Relationship Type="http://schemas.openxmlformats.org/officeDocument/2006/relationships/notesMaster" Target="/ppt/notesMasters/notesMaster1.xml" Id="R40a87393ce244f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07a69cc44441ae" /><Relationship Type="http://schemas.openxmlformats.org/officeDocument/2006/relationships/notesMaster" Target="/ppt/notesMasters/notesMaster1.xml" Id="R561526485ffb45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86c779a16488e" /><Relationship Type="http://schemas.openxmlformats.org/officeDocument/2006/relationships/notesMaster" Target="/ppt/notesMasters/notesMaster1.xml" Id="R137a4d8c1b3748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9ee1beeef4b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d214422a5b4f16" /><Relationship Type="http://schemas.openxmlformats.org/officeDocument/2006/relationships/slideLayout" Target="/ppt/slideLayouts/slideLayout1.xml" Id="R7aead0d91835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ad0d91835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1322b51914ca1" /><Relationship Type="http://schemas.openxmlformats.org/officeDocument/2006/relationships/notesSlide" Target="/ppt/notesSlides/notesSlide1.xml" Id="Rc8499bb0db954a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66c4e4e04c8d" /><Relationship Type="http://schemas.openxmlformats.org/officeDocument/2006/relationships/notesSlide" Target="/ppt/notesSlides/notesSlide2.xml" Id="R229fb139d98340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b430fa547439e" /><Relationship Type="http://schemas.openxmlformats.org/officeDocument/2006/relationships/notesSlide" Target="/ppt/notesSlides/notesSlide3.xml" Id="R0134dae29f9d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f3fa038394832" /><Relationship Type="http://schemas.openxmlformats.org/officeDocument/2006/relationships/notesSlide" Target="/ppt/notesSlides/notesSlide4.xml" Id="Rca167f728fae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0c5e103af4bd1" /><Relationship Type="http://schemas.openxmlformats.org/officeDocument/2006/relationships/notesSlide" Target="/ppt/notesSlides/notesSlide5.xml" Id="R437b7136a4f343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4953408f4504" /><Relationship Type="http://schemas.openxmlformats.org/officeDocument/2006/relationships/notesSlide" Target="/ppt/notesSlides/notesSlide6.xml" Id="R529241732964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1bada49c54978" /><Relationship Type="http://schemas.openxmlformats.org/officeDocument/2006/relationships/notesSlide" Target="/ppt/notesSlides/notesSlide7.xml" Id="R4ced13259c91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14263d5e4cf3" /><Relationship Type="http://schemas.openxmlformats.org/officeDocument/2006/relationships/notesSlide" Target="/ppt/notesSlides/notesSlide8.xml" Id="R191b84aba6d5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2d93e45b4d4c" /><Relationship Type="http://schemas.openxmlformats.org/officeDocument/2006/relationships/notesSlide" Target="/ppt/notesSlides/notesSlide9.xml" Id="Reb20735751734c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3b9ca60064e42" /><Relationship Type="http://schemas.openxmlformats.org/officeDocument/2006/relationships/notesSlide" Target="/ppt/notesSlides/notesSlide10.xml" Id="R33e98ad0e85a43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1816DC-7152-4855-9003-3D0AD25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VAST Challenge 2023 MC1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96379-7209-40C9-9920-6D2AD35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非法捕鱼知识图谱可视分析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B0593-D921-4089-B471-ECCD9E7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基于 FishHook 思路的可疑实体扩展、异常评分与多视图分析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50A43-5E7A-4F88-B63C-5C5A25D8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952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0F572-1607-4140-9A90-4AE41D42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96049-67E7-4096-947E-D23C108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从官方 4 个可疑实体出发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E6FC0-7B25-41AB-9F88-DA32B991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35847-0DCE-44C8-9BB0-C62CFE7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91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追踪公司、船只、人物、组织之间的可疑关系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3BF8F-0B07-472D-A18E-E6E4764F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6D5DA-0CA1-45E6-B7EE-B6C645E2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用多指标可视化解释调查优先级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6E7FD-8B1A-41F1-BB0F-8A551F71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1</a:t>
            </a:r>
          </a:p>
        </p:txBody>
      </p:sp>
    </p:spTree>
    <p:extLst>
      <p:ext uri="{BB962C8B-B14F-4D97-AF65-F5344CB8AC3E}">
        <p14:creationId xmlns:p14="http://schemas.microsoft.com/office/powerpoint/2010/main" val="1450465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E728F-D638-4737-B411-4AC2A891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研究背景与任务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6A314-C567-4A56-AE99-8B75A3D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MC1 的关键不是画完整大图，而是为 FishEye 找到值得继续调查的实体。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A44C6-3AFA-45B1-B56C-771180A2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BF7EE-3A79-47C2-96B9-63AE65E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数据来自文本抽取形成的知识图谱，包含实体和关系。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F8836-D8E5-45F1-A1C2-870C42A0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D7B3C-B5F0-404C-902B-1CEF014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官方给出 4 个可疑实体，要求分析它们的上下文并发现其他可疑对象。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F494A-9DA9-4E30-AA11-D08682D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01394-AE17-4F8E-8994-08108578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课程项目目标：构建可交互系统，并形成可解释的证据链。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62AB7-33B7-43CF-B784-C8C7AEA2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2</a:t>
            </a:r>
          </a:p>
        </p:txBody>
      </p:sp>
    </p:spTree>
    <p:extLst>
      <p:ext uri="{BB962C8B-B14F-4D97-AF65-F5344CB8AC3E}">
        <p14:creationId xmlns:p14="http://schemas.microsoft.com/office/powerpoint/2010/main" val="748751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04524-B534-42BE-8727-E7C45AF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数据概况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B820C-A85B-4646-A75D-DCD8B72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节点、边、实体类型和关系类型构成后续分析基础。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07802-BC33-496C-BE2C-9A28F07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9E6AB-4229-4CC0-8D22-71DD301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3428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E712-23F9-4B50-9F15-5DDFAD95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节点数量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BFAEF-E047-4F6C-8368-EF549C5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65129-A50D-4342-9188-06AADB1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335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11069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28C3A-F789-424B-A951-F72CB67D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边数量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FDAFB-AF57-4348-A193-6F35D1D3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0283F-BB5F-4F96-8924-C5AE19E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B8D7B-5D72-4BC4-9E04-F4D2DE3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官方可疑实体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52DA3-4332-4775-8898-C01A6C6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33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5E1FC-D010-43CD-9F83-014AE6A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E83F7-6C4B-451A-B146-3B40A5D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节点类型：company、person、organization、vessel、location 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2A04A-1F78-45A7-8E83-8C27FB8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30396-3444-4123-85A7-5DCF4D07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243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关系类型：ownership、membership、partnership、family_relationship。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E04AC-FE10-40F6-8CA3-636918B9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35514-B111-4149-800F-330EC28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图结构：有向多重图，同一对实体之间可存在多条不同关系。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7167A-3A53-4667-A62B-5A0FDDCC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3</a:t>
            </a:r>
          </a:p>
        </p:txBody>
      </p:sp>
    </p:spTree>
    <p:extLst>
      <p:ext uri="{BB962C8B-B14F-4D97-AF65-F5344CB8AC3E}">
        <p14:creationId xmlns:p14="http://schemas.microsoft.com/office/powerpoint/2010/main" val="1989506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58D53-3DDA-4652-8270-61C12AA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系统总体设计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B9112-6742-41FC-ADCF-A4CC91A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当前项目对应 FishHook 的多视图分析思想。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A37E-9A4F-4E7E-9210-9E388A84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695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ABB42-C329-429D-831B-DDC7D78B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官方可疑实体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7B804-B0AC-40AC-92E4-06AEE17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调查种子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3A846-92B6-40A5-8691-F57DE72B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14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FDA67-B43D-4874-B990-8176349F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695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2FF37-1B52-437E-8777-AA1EF5D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Ego 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E5F9F-E2A2-418B-8902-F6B26BC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局部上下文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5BE36-40D8-41A5-B9D0-5CBA9972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A6C5D-9FFC-47E7-AC21-3EA82C35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695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0F02F-749C-4A7C-9780-E5F557AB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候选扩展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6DB77-499F-454D-B074-4AED45D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寻找新实体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E774F-2217-4588-9DB9-3DC56B12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14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ACB93-1E99-4B98-B4D6-D8B5DF4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1695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BE02-CE99-4605-992D-3FF7A42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异常评分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C8E62-B8E3-4982-90E7-C6C51E48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排序优先级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40DC3-634E-46F6-98FB-4B733E2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DCF0C-8A71-42A4-886D-21A034B5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6954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9FBDB-8DCD-44D6-95E0-5FD221D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多视图解释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5A07E-2D29-4604-B99F-E879F24D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路径/共同邻居/平行坐标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0B9B9-609D-40F3-9BCE-8EE8CFF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4</a:t>
            </a:r>
          </a:p>
        </p:txBody>
      </p:sp>
    </p:spTree>
    <p:extLst>
      <p:ext uri="{BB962C8B-B14F-4D97-AF65-F5344CB8AC3E}">
        <p14:creationId xmlns:p14="http://schemas.microsoft.com/office/powerpoint/2010/main" val="898505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F239B4-D3A3-43D3-8798-130D58E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FishHook 风格异常特征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0D014-D503-41E6-A7D2-C64B55E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用多个结构指标近似论文中的异常模式检测。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3F132-C931-4AE6-A1BA-598138A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9144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A6131-B155-4EEB-BC5E-F8806730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C228-F13C-43EE-B1D5-51CCC65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192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07F1B-685E-4920-8000-7A08834E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525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7A7D3-DE71-4730-A96A-1BBDE71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192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6AADF-48C5-4F88-99BE-4C51EC2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9D4EA-AC28-45B6-8188-1BFA23B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异常分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E570-2029-4184-93AF-5CCB4A93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716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34351-E684-4D2A-A721-9AA3DB9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383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综合异常程度，用于排序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F0BA2-7302-4D09-B134-2B6EF06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C1E3B-5306-437D-BCC6-B3FD7D0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574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船只比例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410BB-0573-49B6-BB5F-960D477E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1967F-6E5F-4BEF-BEFB-F911FB33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574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弱连通分量中 vessel 占比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54ABC-646E-42B7-9B91-C1CB822E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014AD-D73C-4A67-BDD0-BF5CF1D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家族边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9F758-6AE3-4B07-B304-37FB9A7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098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FE0EA-8494-41CB-91ED-60674D9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765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1-2 跳 family_relationship 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2EABE-3FD9-41D9-A484-DE12852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1B112-9490-47D9-98A2-0401E96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政治组织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457A2-9DA0-4795-9D68-5F48603A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289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0C056-5FC6-4792-8C13-50DC74A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1-2 跳政治组织数量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68041-50C8-4C2C-9670-E1CA83ED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5EC29-7B7E-4DCA-81F9-18FE4E19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短环路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60028-F7D0-4030-BDD4-2ED4BB35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480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9F1340-C911-4880-9F45-3F57D81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147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复杂控制结构或供应链闭环线索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549ED-8B0E-4AB2-98C3-52DFCD96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D71A86-1B86-41F0-8487-E003E2E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关联嫌疑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02C6D-D4E8-4B7F-9727-1E121C2B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671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C6118C-D1F8-44E9-9E19-FA93E97B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338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连接到几个官方可疑实体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72072-1126-41B1-81BF-060FA13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63775-6577-4FC0-99E7-930316E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所有权/成员边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E8138-B58D-4629-AE2C-F474CD52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9F69BE-7047-4DF6-888A-7DDFBABC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52925"/>
            <a:ext cx="718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控制结构与组织归属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9F378E-8D56-4248-8B00-C50F4EE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5</a:t>
            </a:r>
          </a:p>
        </p:txBody>
      </p:sp>
    </p:spTree>
    <p:extLst>
      <p:ext uri="{BB962C8B-B14F-4D97-AF65-F5344CB8AC3E}">
        <p14:creationId xmlns:p14="http://schemas.microsoft.com/office/powerpoint/2010/main" val="14837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E4DDF-0BC0-41B8-9FA0-32D0D75A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平行坐标图怎么看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61B69-0762-4BE2-8FA8-E191FCA7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每条线是一个候选实体，每根竖轴是一个异常特征。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20C2-F1D5-475C-A09F-A90C82D2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AEBBA-6C04-45F6-ADFB-F2A6CB5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BCEB0-0F71-4A41-BB8B-90727894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异常分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C554B-20B7-4AF1-ABBF-37F0E6C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DC22D-AADB-40C9-AF34-0DA98A74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船只比例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A8DE5-73C0-4AC4-A17C-A964A23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9020B-B97D-44D6-8DE6-4421ABB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家族边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E02B2-A338-4A13-875D-E60982F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3DF88-4AC4-46F8-A9C8-547FEDB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政治组织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156A8-21C1-471E-ABEB-1798A86A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9D202-7883-4B30-8F16-D8A1AB91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短环路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99900-BC81-4572-9FFE-B78E1D8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C6826-5A49-4C6D-8BB2-F263758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关联嫌疑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8104D-8D9C-4E2A-9E55-F1427B0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92398-9BC1-46AB-A043-6140C18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船只连接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106E4-16F2-4A8D-B6D4-BA4C8300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0E4D6-880C-4FB4-B5A3-6DD8ACCD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所有权边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BB78A-BBBC-4123-A8AB-D7B54C52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0" cy="2000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3FE98-E2A6-42EF-BCEF-EFBBDD2D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1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成员边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BEDF0-FAD8-46CE-B95D-2739D7E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1047750" cy="15621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01063-2E16-486C-98FF-41738F29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62375"/>
            <a:ext cx="1047750" cy="-1428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D2A9B-D825-4943-AF65-4777C65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1047750" cy="-952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709AD4-486E-4F9B-B4FC-1AF5829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1047750" cy="190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604AC-9308-4476-9F08-BDAB584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047750" cy="-381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BA580-F075-40CE-8884-934F9D20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047750" cy="4191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3680A8-41D7-4DD2-9842-BB40B6FA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66975"/>
            <a:ext cx="1047750" cy="-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7801D-534E-4F69-84E0-DAB13F3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1047750" cy="381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C26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3118E8-FBCB-48E8-BE8F-0F0E1FB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1047750" cy="666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CD290-229C-411C-9CC6-46940924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62375"/>
            <a:ext cx="1047750" cy="-762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CD0FBA-470B-4881-8DAD-B92B8A1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04775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1912D5-6F5E-4CB8-8EB1-5AC365C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104775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24B650-2F78-4B36-918E-8FC539E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1047750" cy="-762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0DD2E-2589-41E2-AB24-E49E4BB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1047750" cy="381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D0D7D-9038-4B4E-8FC7-F88563C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0477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DEC884-5960-4DFD-886A-523D37E3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1047750" cy="-285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45D73D-79EF-4D8B-851C-619B6EAD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81275"/>
            <a:ext cx="1047750" cy="1181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8DB141-E6B1-4C03-B2BC-95B50C8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62375"/>
            <a:ext cx="1047750" cy="-1066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E2D230-6EA5-461A-8D0D-E2EB0C9D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1047750" cy="2095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B54EB9-8787-4845-88EB-5245FE5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10477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BA61F8-F8FE-4641-86DD-2B558F6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047750" cy="-1047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F2C63C-2A61-4349-AD20-EC8B076D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047750" cy="762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5F7DEC-07B0-4B0D-94EE-F657C75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1047750" cy="1905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C487B-CC6D-41D7-99B6-FCDD1CBF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1047750" cy="-95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F9396F-27AD-40D6-A9F0-C9A4939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0A77BD-0E73-4A34-AF1B-8F4A1546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线在多个关键轴上都靠上：说明候选实体多维度异常。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5EAE75-F7A9-4841-923E-44A8DBE8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B809E3-58FC-42F4-8021-388F8E5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只在单一轴上高：通常只能作为辅助线索。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ECD24E-37DA-4953-AF86-10CA0804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832290-F501-4E2E-83A7-CF54CF37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150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该图用于筛选优先调查对象，不直接证明违法。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EAF852-F8B1-4ADA-9E31-400F98B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6</a:t>
            </a:r>
          </a:p>
        </p:txBody>
      </p:sp>
    </p:spTree>
    <p:extLst>
      <p:ext uri="{BB962C8B-B14F-4D97-AF65-F5344CB8AC3E}">
        <p14:creationId xmlns:p14="http://schemas.microsoft.com/office/powerpoint/2010/main" val="488250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A077F-2083-4C79-9111-DA947B2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FishHook 候选排名结果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57860-B7B1-4F65-B775-F605CC7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FishHook 分越高，越值得优先检查其关系网络与路径证据。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37FB0-9709-4446-A478-B96F349B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8286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4BF81-B701-4342-AB4D-95C304B8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08D1-FC38-4FDE-8851-016CF457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候选实体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9037D-4714-458A-AB9D-B999A5B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09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1A477-1913-4081-8874-F4C7FD2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B6769-F06A-485C-ADE4-8AFF3C4E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09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23E80-16A1-4621-990B-DD543C73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FishHook分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70EAD-C9C1-4F9B-8D11-8DF9CAC0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097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9403F-3DBF-4E9C-84E4-8CE9D17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短环路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29039-3E07-4A15-97C2-205F7B2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580B9-FEBA-4C35-AADF-E016554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335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Ocean Fisheries Llc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63707-0AF2-4FB5-9267-C059A51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7C420-823B-43BA-AB01-4FDACB3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335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25FE8-4E93-4AC0-AE6B-1B47EAC6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5E2C8-4978-4DCD-9659-441A6D4D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335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519.9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33F0F-F05C-420E-98FC-2067747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669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5D747-C38A-4509-9DE2-60B7BB3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8CD49-D93C-403E-8296-A8741458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4ACF5-D8AF-4E2F-8F72-1EE8CA0B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07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png xi  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9E88F-BE5E-4DB4-9D25-5846460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A9854-E767-4D04-8BEB-5B89701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907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company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52F37-BAFF-48D2-8630-34C7F057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5EFB7-AC78-4926-ADB9-8FF03017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514.5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20ECF-7D23-492F-9E9E-4922D174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1C5F78-BFE4-412A-9C93-443C29F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907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5BF03-3075-4597-9025-C9EBEB13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54261-B28D-40EF-B4AA-40419CA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SeaSpray Wave SRL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2BD27E-E32F-4230-B35F-17CCFAB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A1D6C-1D28-4D38-82F9-6BAF7B5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479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0A52A-D4F1-471B-B885-FF254C7F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598A4-A1BC-4E2E-AEBA-4A268A07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479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504.3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DEB92E-FAE9-4232-A874-6FA4F5B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C5C52B-279B-4B77-9566-27631B0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479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BD6559-D374-46FE-96A9-E05F3039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59DFB3-8621-4B64-A28E-7385263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903311212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C3A588-B8B4-4C15-B395-DB3656F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617AE-8738-457D-BFDC-69063171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051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organization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B352DD-FC29-4275-86C8-39EED89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0CAC14-7AC8-4AB9-A308-54DCC54F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497.3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5B42CE-639A-41B7-8B67-1F42466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904B68-23A9-4F6D-A110-35F6349E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051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E8542B-0069-47D2-B0A0-9426A5C1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30FF93-AE69-4D2D-8D3B-EADFDC84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Mar del Oeste Pic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291D0C-AA85-4114-A8C1-7ED0687C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D047D2-FDFE-41E8-9265-2CA01CB1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623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company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FB6F9A-CF9D-4B47-8A90-EA0CC930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9784C4-41EC-4FDF-9732-9CE37D3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444.0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B0BEE4-1BDE-4E22-AFBC-DB3F216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3AA6E6-EDB5-429C-B8DB-93DF24C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2C2EA8-C5F3-400F-A1F1-4F5A9998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1C8E6F-EC14-4318-B4D9-D96A1BC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341411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DD45AF-D76E-46BC-B86F-7E58C3B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A7AB4-836E-4434-87EB-7AE4607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organization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F611EF-B8AB-4E1D-BADF-87A34DFC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52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373001-15C2-4243-80DF-AC686D8E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342.6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8FDD1F-CCF6-40B5-8996-0EA7C911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52900"/>
            <a:ext cx="133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3935AD-1A53-4D85-8486-78A0266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9575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C6BBA5-38F4-4094-A4D6-5F7B8744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7</a:t>
            </a:r>
          </a:p>
        </p:txBody>
      </p:sp>
    </p:spTree>
    <p:extLst>
      <p:ext uri="{BB962C8B-B14F-4D97-AF65-F5344CB8AC3E}">
        <p14:creationId xmlns:p14="http://schemas.microsoft.com/office/powerpoint/2010/main" val="726671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CED58-AC42-4956-832C-6B1D1C1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证据路径与共同邻居可视化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D67-0998-44B3-B2BC-FA0DA4AB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用图解释候选实体为什么值得继续调查。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141BF-C1EF-4E83-9B11-5881A4A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8ED53-8F2A-4880-91AF-AE713949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证据路径图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F0199-7B76-4C61-A873-A77E54C6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83F08-D0EF-48FA-A66C-E8D0BE7C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38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左到右阅读：当前实体 → 中间实体 → 关键词目标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5738B-04AD-4F32-895A-A9EEFD31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D855A-66E4-4DF2-B321-271C3FA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574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红色：官方可疑实体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9ADBC-B0B6-4212-9B12-9C1A65A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87EEC-1ACB-451E-8B11-9E733FF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76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橙色：关键词相关目标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A3B38-0CC6-4C88-86C1-F1EEA12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81BB3-881D-4531-8EF9-91D04C8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线越粗：路径段重复越多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5CB1C-13E7-4570-8861-EEAA494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8D8E0-7929-4F08-B086-54479EA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共同邻居图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1F543-8284-40D4-ACE1-EDFB057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0CD31-A18A-4D89-9624-0D1DD60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热力图：共同邻居数量越多颜色越深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BC53F-8AAB-47A9-9257-3D24A1A6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41951-74D2-4317-A2C8-8CB6F550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网络图：可疑实体与共享中介的连接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3506E-37B5-412D-8702-1569EF9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7FBBC-AD34-4129-AF12-8E5DA32B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用于发现共同地点、组织或中介实体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94E50-7973-4A79-92E5-7A2517B8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8</a:t>
            </a:r>
          </a:p>
        </p:txBody>
      </p:sp>
    </p:spTree>
    <p:extLst>
      <p:ext uri="{BB962C8B-B14F-4D97-AF65-F5344CB8AC3E}">
        <p14:creationId xmlns:p14="http://schemas.microsoft.com/office/powerpoint/2010/main" val="288001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AD0E4-D8E7-41CB-8533-7575CBA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4F907-5DC2-4490-AF1E-EC1B89E7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当前系统能够支撑 MC1 的主要分析问题。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1E107-EFA1-480A-9014-149510B3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77CEB-46F3-4B74-B6FE-EE41208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763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979893388 等官方实体具有较强的关系网络复杂度。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14F0C-A47C-42F9-AC8B-1C089E4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85165-A61F-4D35-9C91-AD567222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05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从官方可疑实体扩展，比单纯关键词匹配更符合调查逻辑。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50E6-7957-4815-860D-42D9D8DC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D1CD1-6CA7-46B3-B7C9-5F74B9C9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336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多指标同时偏高的候选对象适合作为 FishEye 的优先调查对象。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86833-6770-4D1D-8FEE-680DC43A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C531D-A5E3-4D5D-ACF6-6975C788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证据路径和共同邻居可视化增强了报告中的证据链表达。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E61B6-8E95-44D7-B68B-0F85165D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9</a:t>
            </a:r>
          </a:p>
        </p:txBody>
      </p:sp>
    </p:spTree>
    <p:extLst>
      <p:ext uri="{BB962C8B-B14F-4D97-AF65-F5344CB8AC3E}">
        <p14:creationId xmlns:p14="http://schemas.microsoft.com/office/powerpoint/2010/main" val="223892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452118-2D2F-4C51-AB8D-58598F43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不足与后续改进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4FDBD-10C7-40BC-AFB5-42BB150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当前结果表示调查优先级，而不是违法定论。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853D6-4786-4ADE-83A5-176A8D5F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5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8FD97-2420-49BC-ADCC-6926A6D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763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NLP 抽取的知识图谱存在乱码、匿名 ID 和关系噪声。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3CAEA-5EA9-42B7-99DD-D761BE38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20210-61FF-42AC-ADAE-1082B01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669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短环路采用有界搜索，保证交互速度但不能穷举全部环路。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37EA5-9616-429E-8014-10194417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9F423-A98E-48EF-A143-453D3AD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关键词路径只是辅助线索，需要结合关系类型和原文语境。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47A33-B70C-4C88-877E-CC4BC2B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A68E9-B794-4751-8296-BA576D7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480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后续可加入图嵌入距离、社区发现、路径高亮和原文证据关联。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F7FD-65E6-4BE2-AACA-393D549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VAST Challenge 2023 MC1  |  10</a:t>
            </a:r>
          </a:p>
        </p:txBody>
      </p:sp>
    </p:spTree>
    <p:extLst>
      <p:ext uri="{BB962C8B-B14F-4D97-AF65-F5344CB8AC3E}">
        <p14:creationId xmlns:p14="http://schemas.microsoft.com/office/powerpoint/2010/main" val="1823396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2026-06-16T03:03:56.0360000Z</dcterms:created>
  <dcterms:modified xsi:type="dcterms:W3CDTF">2026-06-16T03:03:56.0360000Z</dcterms:modified>
</coreProperties>
</file>